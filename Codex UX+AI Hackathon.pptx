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hO1x8lUbt+LOYsouLpgXaCAEJX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666B40-02A8-42BB-B437-447D871D9990}">
  <a:tblStyle styleId="{C4666B40-02A8-42BB-B437-447D871D999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h65e5e7b75b12d4c0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h65e5e7b75b12d4c0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h65e5e7b75b12d4c0_0_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h65e5e7b75b12d4c0_0_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Community edition design source: https://drive.google.com/drive/folders/1c_E5e2poJFUAwO_c3BJvz4_YhaEAtUfy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Official Holding Screen and Social artwork used for this community recap.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DevDay 2026 announcements and updates. Availability checked 5 October 2026.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Visual reference: https://dotcom-design-engineering.openai.chatgpt.site/dev-day</a:t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More ways to build and work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Visual reference: https://dotcom-design-engineering.openai.chatgpt.site/dev-day</a:t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GPT-6.1 Sol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Available through the API and in ChatGPT Work and Codex on eligible paid plans; it is not yet available in Chat. The price comparison is specifically against Astra’s standard input and output token prices.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Source: https://openai.com/index/introducing-gpt-6-1-sol/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GPT-6 Astra Ultrafast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Generation speed is distinct from total task time. Enterprise access requires workspace enablement and eligible billing; the API is available separately.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Sources: https://learn.chatgpt.com/docs/agent-configuration/speed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https://developers.openai.com/api/docs/guides/ultrafast-mode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https://openai.com/index/introducing-gpt-6-1-sol/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https://openai.com/index/devday-2026-recap/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Dots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 dot can work across connected apps with permissions you control. Give it a recurring responsibility, define the boundaries, and review consequential work.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Source: https://openai.com/index/introducing-dots/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130" name="Google Shape;13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Private Intelligence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Private Safety Processing is available to eligible Zero Data Retention organizations after setup. Private Inference is a separate upcoming preview.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Sources: https://developers.openai.com/api/docs/guides/private-safety-processing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https://openai.com/index/devday-2026-recap/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142" name="Google Shape;14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Codex in the cloud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Create and publish an environment with the repositories, tools, and access a project needs. Each task has its own workspace and can continue while your computer sleeps.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Source: https://learn.chatgpt.com/docs/cloud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156" name="Google Shape;15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 refreshed Codex CLI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The terminal workflow supports exploring a repository, editing files, and running local development tools in one session.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Sources: https://learn.chatgpt.com/docs/codex/cli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https://openai.com/index/devday-2026-recap/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168" name="Google Shape;16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Code Review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The desktop review experience brings a pull request’s context and changes together. Automatic cloud reviews require a connected repository and enabled review settings; the reviewer still evaluates the findings.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Source: https://learn.chatgpt.com/docs/code-review?surface=app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185" name="Google Shape;18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Includes access to models offered through Daybreak Blue without a separate Daybreak application.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Source: https://openai.com/index/devday-2026-recap/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Codex Security Cloud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Review the affected code, validation evidence, and remediation guidance. When a fix is available, review the proposed patch before opening a draft pull request.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Source: https://learn.chatgpt.com/docs/security/setup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197" name="Google Shape;19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Agents API with computer use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Computer use is the DevDay update to the Agents API, which launched earlier in September. The API runs a browser in an OpenAI-hosted environment; your application handles access approvals and follows the work.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Sources: https://developers.openai.com/api/docs/guides/agents-api/tools/computer-use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https://openai.com/index/introducing-the-agents-api/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209" name="Google Shape;20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Decisions API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Define the answer space before calling the model so the result fits a routing or classification workflow.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Source: https://openai.com/index/devday-2026-recap/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221" name="Google Shape;221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Bedrock Managed 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The agent runtime and model inference remain inside AWS, with AWS identities and permissions. This offering is in preview.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Source: https://aws.amazon.com/bedrock/managed-agents-openai/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235" name="Google Shape;23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Plugin extensions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Extensions include sidebar entry points, conversation panels, file viewers and editors, and more. Composer mentions are currently available only in the desktop app.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Source: https://developers.openai.com/plugins/build/extensions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247" name="Google Shape;247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Build and discover plugins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Plugin Creator can help prepare the package. Automated checks identify issues before review, and approved developers choose when to publish.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Sources: https://developers.openai.com/plugins/deploy/submission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https://openai.com/index/devday-2026-recap/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264" name="Google Shape;264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Sites also makes automations easier to add and manage, helping keep shared information current.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Source: https://openai.com/index/devday-2026-recap/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Sites with connected plugins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 shared dashboard can read information that each visitor has approved and is already allowed to access. Connected-tool access is currently read-only.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Source: https://chatgpt.com/features/sites/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280" name="Google Shape;280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MCP events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Users choose the event and the response. The integration supports webhook delivery from the draft MCP Events specification, subject to workspace controls.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Source: https://developers.openai.com/plugins/build/mcp-events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292" name="Google Shape;292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ChatGPT Space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Group pages around a topic or team and connect supporting sources. People can find, read, and share on mobile; mobile editing and collaboration are coming soon.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Sources: https://learn.chatgpt.com/docs/space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https://chatgpt.com/features/space/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304" name="Google Shape;304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Pages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 page can combine text, tables, images, source material, and interactive tools. Edit directly, ask ChatGPT for revisions, or leave feedback for collaborators.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Source: https://learn.chatgpt.com/docs/space/pages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316" name="Google Shape;316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Collaborative slides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The public Space page still marks collaborative slides as coming soon.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Sources: https://chatgpt.com/features/space/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https://openai.com/index/devday-2026-recap/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328" name="Google Shape;328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Teams and shared tasks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Team Tasks can run on a schedule or when an event occurs, using the team’s configured connections. Workspace permissions govern who can create teams and manage their tasks.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Source: https://learn.chatgpt.com/docs/enterprise/teams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340" name="Google Shape;340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@ChatGPT in Slack and Teams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People in enabled channels can participate without an individual ChatGPT license. ChatGPT uses configured connections and approved access; it does not automatically inherit personal accounts or full channel history.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Source: https://chatgpt.com/features/chatgpt-in-slack-and-teams/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352" name="Google Shape;352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Meetings plugin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Use it for online calls or in-person conversations without a bot joining. Get participants’ consent before starting the notes.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Source: https://help.openai.com/en/articles/20001546-the-meetings-plugin-in-chatgpt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364" name="Google Shape;364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5" name="Google Shape;37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Teammates can also discover shared skills; skills sharing is limited to the workspace.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Source: https://openai.com/index/devday-2026-recap/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Shareable profiles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Choose which Sites to showcase and how to share your personal profile. Business profile visibility follows workspace controls; showcasing a Site does not change its permissions.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Source: https://help.openai.com/en/articles/20001539-shareable-profiles-in-chatgpt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376" name="Google Shape;376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Sign in with ChatGPT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Set a weekly cap for each participating app. This draws on existing Work and Codex usage; the partner may still charge separately for its own subscription or services.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Source: https://help.openai.com/en/articles/20001542-using-your-chatgpt-plan-in-other-apps-and-sites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388" name="Google Shape;388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Pro 500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Pro 500 includes Astra Ultrafast and the highest included allowance among Pro plans. Existing plan limits still apply.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Sources: https://help.openai.com/en/articles/9793128-about-chatgpt-pro-tiers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https://openai.com/index/devday-2026-recap/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400" name="Google Shape;400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OpenAI Marketplace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This is a procurement option for eligible enterprise commitments and partner products. It is separate from the ChatGPT plugin directory.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Source: https://openai.com/business/marketplace/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Official launch image: https://openai.com/index/devday-2026-recap/</a:t>
            </a:r>
            <a:endParaRPr/>
          </a:p>
        </p:txBody>
      </p:sp>
      <p:sp>
        <p:nvSpPr>
          <p:cNvPr id="415" name="Google Shape;415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6" name="Google Shape;426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What will you build next?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Visual reference: https://dotcom-design-engineering.openai.chatgpt.site/dev-day</a:t>
            </a:r>
            <a:endParaRPr/>
          </a:p>
        </p:txBody>
      </p:sp>
      <p:sp>
        <p:nvSpPr>
          <p:cNvPr id="427" name="Google Shape;427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Relationship Id="rId4" Type="http://schemas.openxmlformats.org/officeDocument/2006/relationships/hyperlink" Target="https://openai.com/index/devday-2026-recap" TargetMode="External"/><Relationship Id="rId5" Type="http://schemas.openxmlformats.org/officeDocument/2006/relationships/hyperlink" Target="https://developers.openai.com" TargetMode="External"/><Relationship Id="rId6" Type="http://schemas.openxmlformats.org/officeDocument/2006/relationships/hyperlink" Target="https://learn.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h65e5e7b75b12d4c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/>
          <p:nvPr/>
        </p:nvSpPr>
        <p:spPr>
          <a:xfrm>
            <a:off x="723900" y="609600"/>
            <a:ext cx="10744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Today’s goal</a:t>
            </a:r>
            <a:endParaRPr/>
          </a:p>
        </p:txBody>
      </p:sp>
      <p:sp>
        <p:nvSpPr>
          <p:cNvPr id="21" name="Google Shape;21;p2"/>
          <p:cNvSpPr txBox="1"/>
          <p:nvPr/>
        </p:nvSpPr>
        <p:spPr>
          <a:xfrm>
            <a:off x="723900" y="1943100"/>
            <a:ext cx="10572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50"/>
              <a:buFont typeface="Arial"/>
              <a:buNone/>
            </a:pPr>
            <a:r>
              <a:rPr b="0" i="0" lang="en-US" sz="5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working prototype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50"/>
              <a:buFont typeface="Arial"/>
              <a:buNone/>
            </a:pPr>
            <a:r>
              <a:rPr b="0" i="0" lang="en-US" sz="5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a real user</a:t>
            </a:r>
            <a:endParaRPr/>
          </a:p>
        </p:txBody>
      </p:sp>
      <p:sp>
        <p:nvSpPr>
          <p:cNvPr id="22" name="Google Shape;22;p2"/>
          <p:cNvSpPr txBox="1"/>
          <p:nvPr/>
        </p:nvSpPr>
        <p:spPr>
          <a:xfrm>
            <a:off x="762000" y="4095750"/>
            <a:ext cx="10477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clear problem. One core flow you can show.</a:t>
            </a:r>
            <a:endParaRPr/>
          </a:p>
        </p:txBody>
      </p:sp>
      <p:sp>
        <p:nvSpPr>
          <p:cNvPr id="23" name="Google Shape;23;p2"/>
          <p:cNvSpPr txBox="1"/>
          <p:nvPr/>
        </p:nvSpPr>
        <p:spPr>
          <a:xfrm>
            <a:off x="762000" y="5105400"/>
            <a:ext cx="102870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Build with Codex, test the important path,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and make the experience easy to understand.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/>
        </p:nvSpPr>
        <p:spPr>
          <a:xfrm>
            <a:off x="723900" y="609600"/>
            <a:ext cx="10744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</a:rPr>
              <a:t>Agenda</a:t>
            </a:r>
            <a:endParaRPr b="1"/>
          </a:p>
        </p:txBody>
      </p:sp>
      <p:graphicFrame>
        <p:nvGraphicFramePr>
          <p:cNvPr id="29" name="Google Shape;29;p3"/>
          <p:cNvGraphicFramePr/>
          <p:nvPr/>
        </p:nvGraphicFramePr>
        <p:xfrm>
          <a:off x="723900" y="1695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{C4666B40-02A8-42BB-B437-447D871D9990}</a:tableStyleId>
              </a:tblPr>
              <a:tblGrid>
                <a:gridCol w="3238500"/>
                <a:gridCol w="7505700"/>
              </a:tblGrid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25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12:00–12:25 pm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25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Check-in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25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12:25–12:40 pm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25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Welcome &amp; build brief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25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12:40–3:25 pm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25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Build sprint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25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3:25–3:45 pm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25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Submissions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25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3:45–4:15 pm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25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Shortlisting &amp; break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25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4:15–5:25 pm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25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Finalist demos &amp; judging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25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5:25–5:45 pm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25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Awards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25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5:45–6:00 pm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25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Closing &amp; group photo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" name="Google Shape;30;p3"/>
          <p:cNvSpPr txBox="1"/>
          <p:nvPr/>
        </p:nvSpPr>
        <p:spPr>
          <a:xfrm>
            <a:off x="723900" y="6096000"/>
            <a:ext cx="9906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</a:rPr>
              <a:t>Submissions close at 3:45 pm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h65e5e7b75b12d4c0_0_7" title="product-ux-ai-mastery-1920x108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2"/>
          <p:cNvSpPr txBox="1"/>
          <p:nvPr/>
        </p:nvSpPr>
        <p:spPr>
          <a:xfrm>
            <a:off x="723900" y="609600"/>
            <a:ext cx="10744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Prizes</a:t>
            </a:r>
            <a:endParaRPr/>
          </a:p>
        </p:txBody>
      </p:sp>
      <p:sp>
        <p:nvSpPr>
          <p:cNvPr id="41" name="Google Shape;41;p32"/>
          <p:cNvSpPr txBox="1"/>
          <p:nvPr/>
        </p:nvSpPr>
        <p:spPr>
          <a:xfrm>
            <a:off x="723900" y="1600200"/>
            <a:ext cx="107442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USD 1,750</a:t>
            </a:r>
            <a:endParaRPr/>
          </a:p>
        </p:txBody>
      </p:sp>
      <p:sp>
        <p:nvSpPr>
          <p:cNvPr id="42" name="Google Shape;42;p32"/>
          <p:cNvSpPr txBox="1"/>
          <p:nvPr/>
        </p:nvSpPr>
        <p:spPr>
          <a:xfrm>
            <a:off x="781050" y="2876550"/>
            <a:ext cx="9525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Codex credits</a:t>
            </a:r>
            <a:endParaRPr/>
          </a:p>
        </p:txBody>
      </p:sp>
      <p:sp>
        <p:nvSpPr>
          <p:cNvPr id="43" name="Google Shape;43;p32"/>
          <p:cNvSpPr txBox="1"/>
          <p:nvPr/>
        </p:nvSpPr>
        <p:spPr>
          <a:xfrm>
            <a:off x="723900" y="4324350"/>
            <a:ext cx="3143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First place</a:t>
            </a:r>
            <a:endParaRPr/>
          </a:p>
        </p:txBody>
      </p:sp>
      <p:sp>
        <p:nvSpPr>
          <p:cNvPr id="44" name="Google Shape;44;p32"/>
          <p:cNvSpPr txBox="1"/>
          <p:nvPr/>
        </p:nvSpPr>
        <p:spPr>
          <a:xfrm>
            <a:off x="723900" y="4895850"/>
            <a:ext cx="3238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$1,000</a:t>
            </a:r>
            <a:endParaRPr/>
          </a:p>
        </p:txBody>
      </p:sp>
      <p:sp>
        <p:nvSpPr>
          <p:cNvPr id="45" name="Google Shape;45;p32"/>
          <p:cNvSpPr txBox="1"/>
          <p:nvPr/>
        </p:nvSpPr>
        <p:spPr>
          <a:xfrm>
            <a:off x="4476750" y="4324350"/>
            <a:ext cx="3143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Second place</a:t>
            </a:r>
            <a:endParaRPr/>
          </a:p>
        </p:txBody>
      </p:sp>
      <p:sp>
        <p:nvSpPr>
          <p:cNvPr id="46" name="Google Shape;46;p32"/>
          <p:cNvSpPr txBox="1"/>
          <p:nvPr/>
        </p:nvSpPr>
        <p:spPr>
          <a:xfrm>
            <a:off x="4476750" y="4895850"/>
            <a:ext cx="3238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$500</a:t>
            </a:r>
            <a:endParaRPr/>
          </a:p>
        </p:txBody>
      </p:sp>
      <p:sp>
        <p:nvSpPr>
          <p:cNvPr id="47" name="Google Shape;47;p32"/>
          <p:cNvSpPr txBox="1"/>
          <p:nvPr/>
        </p:nvSpPr>
        <p:spPr>
          <a:xfrm>
            <a:off x="8229600" y="4324350"/>
            <a:ext cx="3143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Third place</a:t>
            </a:r>
            <a:endParaRPr/>
          </a:p>
        </p:txBody>
      </p:sp>
      <p:sp>
        <p:nvSpPr>
          <p:cNvPr id="48" name="Google Shape;48;p32"/>
          <p:cNvSpPr txBox="1"/>
          <p:nvPr/>
        </p:nvSpPr>
        <p:spPr>
          <a:xfrm>
            <a:off x="8229600" y="4895850"/>
            <a:ext cx="3238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$250</a:t>
            </a:r>
            <a:endParaRPr/>
          </a:p>
        </p:txBody>
      </p:sp>
      <p:sp>
        <p:nvSpPr>
          <p:cNvPr id="49" name="Google Shape;49;p32"/>
          <p:cNvSpPr txBox="1"/>
          <p:nvPr/>
        </p:nvSpPr>
        <p:spPr>
          <a:xfrm>
            <a:off x="723900" y="6096000"/>
            <a:ext cx="10744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USD in Codex credits per winning team, not cash.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3"/>
          <p:cNvSpPr txBox="1"/>
          <p:nvPr/>
        </p:nvSpPr>
        <p:spPr>
          <a:xfrm>
            <a:off x="723900" y="609600"/>
            <a:ext cx="10744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 credits</a:t>
            </a:r>
            <a:endParaRPr/>
          </a:p>
        </p:txBody>
      </p:sp>
      <p:sp>
        <p:nvSpPr>
          <p:cNvPr id="55" name="Google Shape;55;p33"/>
          <p:cNvSpPr txBox="1"/>
          <p:nvPr/>
        </p:nvSpPr>
        <p:spPr>
          <a:xfrm>
            <a:off x="723900" y="2019300"/>
            <a:ext cx="4953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credits</a:t>
            </a:r>
            <a:endParaRPr/>
          </a:p>
        </p:txBody>
      </p:sp>
      <p:sp>
        <p:nvSpPr>
          <p:cNvPr id="56" name="Google Shape;56;p33"/>
          <p:cNvSpPr txBox="1"/>
          <p:nvPr/>
        </p:nvSpPr>
        <p:spPr>
          <a:xfrm>
            <a:off x="6572250" y="2019300"/>
            <a:ext cx="4953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Codex credits</a:t>
            </a:r>
            <a:endParaRPr/>
          </a:p>
        </p:txBody>
      </p:sp>
      <p:sp>
        <p:nvSpPr>
          <p:cNvPr id="57" name="Google Shape;57;p33"/>
          <p:cNvSpPr txBox="1"/>
          <p:nvPr/>
        </p:nvSpPr>
        <p:spPr>
          <a:xfrm>
            <a:off x="723900" y="3219450"/>
            <a:ext cx="107442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Separate credit types. Keep your codes private.</a:t>
            </a:r>
            <a:endParaRPr/>
          </a:p>
        </p:txBody>
      </p:sp>
      <p:sp>
        <p:nvSpPr>
          <p:cNvPr id="58" name="Google Shape;58;p33"/>
          <p:cNvSpPr txBox="1"/>
          <p:nvPr/>
        </p:nvSpPr>
        <p:spPr>
          <a:xfrm>
            <a:off x="723900" y="4152900"/>
            <a:ext cx="107442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Follow the provided redemption instructions.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If you need help, ask an organizer.</a:t>
            </a:r>
            <a:endParaRPr/>
          </a:p>
        </p:txBody>
      </p:sp>
      <p:sp>
        <p:nvSpPr>
          <p:cNvPr id="59" name="Google Shape;59;p33"/>
          <p:cNvSpPr txBox="1"/>
          <p:nvPr/>
        </p:nvSpPr>
        <p:spPr>
          <a:xfrm>
            <a:off x="762000" y="561975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One API credit + one Codex credit per participant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4"/>
          <p:cNvSpPr txBox="1"/>
          <p:nvPr/>
        </p:nvSpPr>
        <p:spPr>
          <a:xfrm>
            <a:off x="723900" y="609600"/>
            <a:ext cx="10744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Submission checklist</a:t>
            </a:r>
            <a:endParaRPr/>
          </a:p>
        </p:txBody>
      </p:sp>
      <p:sp>
        <p:nvSpPr>
          <p:cNvPr id="65" name="Google Shape;65;p34"/>
          <p:cNvSpPr txBox="1"/>
          <p:nvPr/>
        </p:nvSpPr>
        <p:spPr>
          <a:xfrm>
            <a:off x="723900" y="1952625"/>
            <a:ext cx="666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66" name="Google Shape;66;p34"/>
          <p:cNvSpPr txBox="1"/>
          <p:nvPr/>
        </p:nvSpPr>
        <p:spPr>
          <a:xfrm>
            <a:off x="1619250" y="1952625"/>
            <a:ext cx="9810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Accessible prototype link</a:t>
            </a:r>
            <a:endParaRPr/>
          </a:p>
        </p:txBody>
      </p:sp>
      <p:sp>
        <p:nvSpPr>
          <p:cNvPr id="67" name="Google Shape;67;p34"/>
          <p:cNvSpPr txBox="1"/>
          <p:nvPr/>
        </p:nvSpPr>
        <p:spPr>
          <a:xfrm>
            <a:off x="723900" y="2733675"/>
            <a:ext cx="666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68" name="Google Shape;68;p34"/>
          <p:cNvSpPr txBox="1"/>
          <p:nvPr/>
        </p:nvSpPr>
        <p:spPr>
          <a:xfrm>
            <a:off x="1619250" y="2733675"/>
            <a:ext cx="9810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Who it helps and the problem it solves</a:t>
            </a:r>
            <a:endParaRPr/>
          </a:p>
        </p:txBody>
      </p:sp>
      <p:sp>
        <p:nvSpPr>
          <p:cNvPr id="69" name="Google Shape;69;p34"/>
          <p:cNvSpPr txBox="1"/>
          <p:nvPr/>
        </p:nvSpPr>
        <p:spPr>
          <a:xfrm>
            <a:off x="723900" y="3514725"/>
            <a:ext cx="666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70" name="Google Shape;70;p34"/>
          <p:cNvSpPr txBox="1"/>
          <p:nvPr/>
        </p:nvSpPr>
        <p:spPr>
          <a:xfrm>
            <a:off x="1619250" y="3514725"/>
            <a:ext cx="9810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works and the current limitations</a:t>
            </a:r>
            <a:endParaRPr/>
          </a:p>
        </p:txBody>
      </p:sp>
      <p:sp>
        <p:nvSpPr>
          <p:cNvPr id="71" name="Google Shape;71;p34"/>
          <p:cNvSpPr txBox="1"/>
          <p:nvPr/>
        </p:nvSpPr>
        <p:spPr>
          <a:xfrm>
            <a:off x="723900" y="4295775"/>
            <a:ext cx="666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72" name="Google Shape;72;p34"/>
          <p:cNvSpPr txBox="1"/>
          <p:nvPr/>
        </p:nvSpPr>
        <p:spPr>
          <a:xfrm>
            <a:off x="1619250" y="4295775"/>
            <a:ext cx="9810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concrete example of how you used Codex</a:t>
            </a:r>
            <a:endParaRPr/>
          </a:p>
        </p:txBody>
      </p:sp>
      <p:sp>
        <p:nvSpPr>
          <p:cNvPr id="73" name="Google Shape;73;p34"/>
          <p:cNvSpPr txBox="1"/>
          <p:nvPr/>
        </p:nvSpPr>
        <p:spPr>
          <a:xfrm>
            <a:off x="723900" y="5543550"/>
            <a:ext cx="4286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Due 3:45 pm</a:t>
            </a:r>
            <a:endParaRPr/>
          </a:p>
        </p:txBody>
      </p:sp>
      <p:sp>
        <p:nvSpPr>
          <p:cNvPr id="74" name="Google Shape;74;p34"/>
          <p:cNvSpPr txBox="1"/>
          <p:nvPr/>
        </p:nvSpPr>
        <p:spPr>
          <a:xfrm>
            <a:off x="723900" y="6134100"/>
            <a:ext cx="10477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Ask an organizer for the submission link.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/>
          <p:nvPr/>
        </p:nvSpPr>
        <p:spPr>
          <a:xfrm>
            <a:off x="5648325" y="6172200"/>
            <a:ext cx="571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DevDay 2026 recap</a:t>
            </a:r>
            <a:endParaRPr b="0" i="0" sz="22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/>
          <p:nvPr/>
        </p:nvSpPr>
        <p:spPr>
          <a:xfrm>
            <a:off x="533400" y="495300"/>
            <a:ext cx="110490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0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ways to build and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52450" y="2085975"/>
            <a:ext cx="52006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Delegate ongoing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52450" y="2952750"/>
            <a:ext cx="49720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Agents that keep working across tools and tasks.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429375" y="2085975"/>
            <a:ext cx="52006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and ship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429375" y="2952750"/>
            <a:ext cx="49720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New models, cloud workflows, reviews, and security.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52450" y="4200525"/>
            <a:ext cx="52006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Bring your product into ChatGPT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52450" y="5067300"/>
            <a:ext cx="49720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Plugins, interactive experiences, and connected Sites.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429375" y="4200525"/>
            <a:ext cx="52006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 together with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429375" y="5067300"/>
            <a:ext cx="49720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Shared knowledge, team tasks, and collaboration.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52450" y="1752600"/>
            <a:ext cx="152400" cy="152400"/>
          </a:xfrm>
          <a:prstGeom prst="ellipse">
            <a:avLst/>
          </a:prstGeom>
          <a:solidFill>
            <a:srgbClr val="924F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429375" y="1752600"/>
            <a:ext cx="152400" cy="152400"/>
          </a:xfrm>
          <a:prstGeom prst="ellipse">
            <a:avLst/>
          </a:prstGeom>
          <a:solidFill>
            <a:srgbClr val="00AB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52450" y="3867150"/>
            <a:ext cx="152400" cy="152400"/>
          </a:xfrm>
          <a:prstGeom prst="ellipse">
            <a:avLst/>
          </a:prstGeom>
          <a:solidFill>
            <a:srgbClr val="006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429375" y="3867150"/>
            <a:ext cx="152400" cy="152400"/>
          </a:xfrm>
          <a:prstGeom prst="ellipse">
            <a:avLst/>
          </a:prstGeom>
          <a:solidFill>
            <a:srgbClr val="F26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GPT-6.1 Sol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1156"/>
            <a:ext cx="6019800" cy="338613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6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capable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within the same budget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52450" y="3248025"/>
            <a:ext cx="4543425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Stronger coding, computer use, and professional work.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Near-Astra intelligence at one-fifth of Astra’s standard input and output token prices.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Available in Work, Codex, and the API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00AB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GPT-6 Astra Ultrafast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0535"/>
            <a:ext cx="6019800" cy="338737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/>
          <p:nvPr/>
        </p:nvSpPr>
        <p:spPr>
          <a:xfrm>
            <a:off x="533400" y="1466850"/>
            <a:ext cx="48196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25"/>
              <a:buFont typeface="Arial"/>
              <a:buNone/>
            </a:pPr>
            <a:r>
              <a:rPr b="0" i="0" lang="en-US" sz="26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Less waiting between ideas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33400" y="2552700"/>
            <a:ext cx="490537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 to 8×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61975" y="3257550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faster token generation in Codex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33400" y="3905250"/>
            <a:ext cx="490537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 to 6×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61975" y="4610100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faster token generation in the API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Useful when iteration speed matters most.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Work + Codex: Pro 500 and eligible Enterprise/Edu • Sol Ultrafast coming soon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006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1156"/>
            <a:ext cx="6019800" cy="338613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Delegate ongoing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responsibilities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552450" y="3248025"/>
            <a:ext cx="4543425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Always-on agents that learn what matters to you and work on your behalf.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ongoing work moving while you focus elsewhere.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Pro and Business Premium in eligible markets • Enterprise, Edu, Healthcare: admin-enabled beta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924F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 Intelligence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0535"/>
            <a:ext cx="6019800" cy="338737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9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control over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sensitive AI workloads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552450" y="2990850"/>
            <a:ext cx="466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 Safety 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52450" y="3314700"/>
            <a:ext cx="4591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Automated safety reviews without personnel accessing underlying content.</a:t>
            </a:r>
            <a:endParaRPr b="0" i="0" sz="18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52450" y="4000500"/>
            <a:ext cx="466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 Inference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552450" y="4324350"/>
            <a:ext cx="4591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Confidential computing with verifiable controls; preview planned for fall 2026.</a:t>
            </a:r>
            <a:endParaRPr b="0" i="0" sz="18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frontier AI for workloads with stronger privacy requirements.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006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Codex in the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0535"/>
            <a:ext cx="6019800" cy="338737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0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development environment,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ready wherever you 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552450" y="3248025"/>
            <a:ext cx="4543425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Run tasks in the cloud and steer work from another device.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Reusable environments give teams a consistent setup, settings, and permissions.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Work from web, desktop, or mobile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00AB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refreshed Codex CLI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1156"/>
            <a:ext cx="6019800" cy="338613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1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control in the terminal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552450" y="2990850"/>
            <a:ext cx="466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552450" y="3314700"/>
            <a:ext cx="4591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Start and steer tasks with your voice.</a:t>
            </a:r>
            <a:endParaRPr b="0" i="0" sz="18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552450" y="3714750"/>
            <a:ext cx="466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Delegate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552450" y="4038600"/>
            <a:ext cx="4591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Use /agents to follow delegated work.</a:t>
            </a:r>
            <a:endParaRPr b="0" i="0" sz="18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552450" y="4438650"/>
            <a:ext cx="466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552450" y="4762500"/>
            <a:ext cx="4591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Return to sessions and worktrees.</a:t>
            </a:r>
            <a:endParaRPr b="0" i="0" sz="18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complex coding sessions easier to manage.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Available in the Codex CLI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00AB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6300" y="1581150"/>
            <a:ext cx="6972298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2"/>
          <p:cNvSpPr/>
          <p:nvPr/>
        </p:nvSpPr>
        <p:spPr>
          <a:xfrm>
            <a:off x="533400" y="1533525"/>
            <a:ext cx="3753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 the change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 you merge it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552450" y="3209925"/>
            <a:ext cx="3714900" cy="19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Read summaries, inspect diffs, and ask Codex about potential issues across projects.</a:t>
            </a:r>
            <a:endParaRPr b="0" i="0" sz="2025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552450" y="5695950"/>
            <a:ext cx="11049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Automatic cloud reviews can take a first pass while you’re away.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552450" y="6286500"/>
            <a:ext cx="11030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GitHub available; GitLab merge requests in preview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00AB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Codex Security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13"/>
          <p:cNvPicPr preferRelativeResize="0"/>
          <p:nvPr/>
        </p:nvPicPr>
        <p:blipFill rotWithShape="1">
          <a:blip r:embed="rId3">
            <a:alphaModFix/>
          </a:blip>
          <a:srcRect b="8995" l="9004" r="8995" t="9004"/>
          <a:stretch/>
        </p:blipFill>
        <p:spPr>
          <a:xfrm>
            <a:off x="5638800" y="1630535"/>
            <a:ext cx="6019800" cy="338737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3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checking your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the laptop closes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552450" y="3248025"/>
            <a:ext cx="4543425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Scan GitHub repositories, investigate findings, and prepare proposed fixes in the cloud.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the repository now and monitor new commits over 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Cloud scans • Web and desktop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F26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Agents API with computer 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0535"/>
            <a:ext cx="6019800" cy="338737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4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agents that can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browser interfaces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552450" y="3248025"/>
            <a:ext cx="4543425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Computer use joins delegation, tools, tool search, and context management.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runs the underlying agent infrastructure so you can focus on your application.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Agents API: public beta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006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Decisions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1156"/>
            <a:ext cx="6019800" cy="338613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5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Turn context into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specific next 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552450" y="2990850"/>
            <a:ext cx="466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define the choices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552450" y="3314700"/>
            <a:ext cx="4591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Provide text or images and a finite set of possible answers.</a:t>
            </a:r>
            <a:endParaRPr b="0" i="0" sz="18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552450" y="4000500"/>
            <a:ext cx="466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Luna returns a decision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552450" y="4324350"/>
            <a:ext cx="4591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Classify content, route a request, or choose an agent’s next step.</a:t>
            </a:r>
            <a:endParaRPr b="0" i="0" sz="18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Announced in limited preview; broader release planned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006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Bedrock Managed Agents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0535"/>
            <a:ext cx="6019800" cy="338737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6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running in AWS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552450" y="3248025"/>
            <a:ext cx="4543425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OpenAI models and the Codex harness, integrated with Amazon Bedrock AgentCore.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where your applications and data already run.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Preview • Powered by OpenAI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006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Plugin extensions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1156"/>
            <a:ext cx="6019800" cy="338613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7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 your 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home inside ChatGPT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552450" y="2990850"/>
            <a:ext cx="466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Sidebar entry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552450" y="3314700"/>
            <a:ext cx="4591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A dedicated starting point for your plugin.</a:t>
            </a:r>
            <a:endParaRPr b="0" i="0" sz="18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552450" y="3714750"/>
            <a:ext cx="466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panels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552450" y="4038600"/>
            <a:ext cx="4591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A workspace beside the conversation.</a:t>
            </a:r>
            <a:endParaRPr b="0" i="0" sz="18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552450" y="4438650"/>
            <a:ext cx="466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viewers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552450" y="4762500"/>
            <a:ext cx="4591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Open the file types your product supports.</a:t>
            </a:r>
            <a:endParaRPr b="0" i="0" sz="18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people use your experience where they already work with AI.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Free and Go web support coming soon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924F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and discover plugins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2191"/>
            <a:ext cx="6019800" cy="338406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8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clearer path from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 to discovery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552450" y="2990850"/>
            <a:ext cx="466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552450" y="3314700"/>
            <a:ext cx="4591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Plugin Creator helps assemble your plugin.</a:t>
            </a:r>
            <a:endParaRPr b="0" i="0" sz="18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552450" y="3714750"/>
            <a:ext cx="466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552450" y="4038600"/>
            <a:ext cx="4591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A redesigned flow gives clearer feedback.</a:t>
            </a:r>
            <a:endParaRPr b="0" i="0" sz="18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552450" y="4438650"/>
            <a:ext cx="4667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Discover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552450" y="4762500"/>
            <a:ext cx="4591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Help people find your plugin.</a:t>
            </a:r>
            <a:endParaRPr b="0" i="0" sz="18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choose their plugins and approve the access each receives.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924F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Sites with connected plugins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2191"/>
            <a:ext cx="6019800" cy="338406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9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shared 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each person’s own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552450" y="3248025"/>
            <a:ext cx="4543425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Add supported plugins to Sites. Teammates connect their own accounts and permissions.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shared tools without giving everyone the same data access.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Business, Enterprise, Healthcare, and Edu • Connected tools currently read-only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924F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0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MCP 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0535"/>
            <a:ext cx="6019800" cy="3387379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0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 work when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something happens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552450" y="3248025"/>
            <a:ext cx="4543425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Plugin events can trigger automations when connected apps change.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messages or document comments can trigger the workflow you define.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Work on web, cloud Work on desktop, and dots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924F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ChatGPT 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0535"/>
            <a:ext cx="6019800" cy="338737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1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shared home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team’s work with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552450" y="3248025"/>
            <a:ext cx="4543425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Bring teammates, ChatGPT, and your dot together around shared knowledge.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work organized and easier to pick up again.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Pro, Business, and Enterprise • Web and desktop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006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0535"/>
            <a:ext cx="6019800" cy="3387379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2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 on the same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living document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552450" y="3248025"/>
            <a:ext cx="4543425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Write, research, create charts and images, and visualize information with AI on a page.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Invite teammates to contribute ideas and feedback in one place.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Pro, Business, and Enterprise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006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Collaborative slides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23"/>
          <p:cNvPicPr preferRelativeResize="0"/>
          <p:nvPr/>
        </p:nvPicPr>
        <p:blipFill rotWithShape="1">
          <a:blip r:embed="rId3">
            <a:alphaModFix/>
          </a:blip>
          <a:srcRect b="8005" l="7997" r="8005" t="7997"/>
          <a:stretch/>
        </p:blipFill>
        <p:spPr>
          <a:xfrm>
            <a:off x="5638800" y="1632191"/>
            <a:ext cx="6019800" cy="338406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3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deck together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people and agents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552450" y="3248025"/>
            <a:ext cx="4543425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Create from a conversation or a template. Edit and comment together.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 in ChatGPT or export to PowerPoint and Google Slides.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Coming soon • Pro, Business, and Enterprise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006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Teams and shared 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24"/>
          <p:cNvPicPr preferRelativeResize="0"/>
          <p:nvPr/>
        </p:nvPicPr>
        <p:blipFill rotWithShape="1">
          <a:blip r:embed="rId3">
            <a:alphaModFix/>
          </a:blip>
          <a:srcRect b="11005" l="10998" r="11005" t="10998"/>
          <a:stretch/>
        </p:blipFill>
        <p:spPr>
          <a:xfrm>
            <a:off x="5638800" y="1630535"/>
            <a:ext cx="6019800" cy="3387379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4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recurring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team workflow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552450" y="3248025"/>
            <a:ext cx="4543425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Share pages, plugins, slides, and spreadsheets with your team.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 up recurring tasks and refine their instructions together as priorities change.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Business and Enterprise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006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5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@ChatGPT in Slack and Teams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1156"/>
            <a:ext cx="6019800" cy="3386138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5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Bring AI into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team conversation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5"/>
          <p:cNvSpPr/>
          <p:nvPr/>
        </p:nvSpPr>
        <p:spPr>
          <a:xfrm>
            <a:off x="552450" y="3248025"/>
            <a:ext cx="4543425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Mention ChatGPT in a channel, thread, or direct message to work with connected tools.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5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Teammates can add context and improve results in the same conversation.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5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Business, Enterprise, and Edu • Admin setup required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5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006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6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Meetings plugin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0535"/>
            <a:ext cx="6019800" cy="3387379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6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the decisions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the next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552450" y="3248025"/>
            <a:ext cx="4543425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Capture notes and personalized summaries with action items in ChatGPT Space.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notes to update a plan or draft a follow-up. Audio is deleted after notes are ready.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macOS beta: Pro and Business • Enterprise: limited alpha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006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Shareable profiles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9" name="Google Shape;3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0535"/>
            <a:ext cx="6019800" cy="3387379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7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your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easier to find and reuse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7"/>
          <p:cNvSpPr/>
          <p:nvPr/>
        </p:nvSpPr>
        <p:spPr>
          <a:xfrm>
            <a:off x="552450" y="3248025"/>
            <a:ext cx="4543425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Bring your Sites and activity together in a profile you can share.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7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 others discover the Sites you’ve built.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7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Web and desktop • Enterprise support coming soon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7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F26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8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 in with ChatGPT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p28"/>
          <p:cNvPicPr preferRelativeResize="0"/>
          <p:nvPr/>
        </p:nvPicPr>
        <p:blipFill rotWithShape="1">
          <a:blip r:embed="rId3">
            <a:alphaModFix/>
          </a:blip>
          <a:srcRect b="17001" l="17001" r="17001" t="17001"/>
          <a:stretch/>
        </p:blipFill>
        <p:spPr>
          <a:xfrm>
            <a:off x="5638800" y="1632191"/>
            <a:ext cx="6019800" cy="3384068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8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your 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across more tools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552450" y="3248025"/>
            <a:ext cx="4543425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Connect participating tools with your ChatGPT account and control how much allowance each can use.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8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Fewer separate sign-ins, with eligible OpenAI usage counted against your plan.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8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Plan usage: Plus and Pro in participating apps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8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F26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9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 500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0535"/>
            <a:ext cx="6019800" cy="338737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9"/>
          <p:cNvSpPr/>
          <p:nvPr/>
        </p:nvSpPr>
        <p:spPr>
          <a:xfrm>
            <a:off x="533400" y="1466850"/>
            <a:ext cx="48196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25"/>
              <a:buFont typeface="Arial"/>
              <a:buNone/>
            </a:pPr>
            <a:r>
              <a:rPr b="0" i="0" lang="en-US" sz="26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room for demanding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9"/>
          <p:cNvSpPr/>
          <p:nvPr/>
        </p:nvSpPr>
        <p:spPr>
          <a:xfrm>
            <a:off x="533400" y="2552700"/>
            <a:ext cx="490537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9"/>
          <p:cNvSpPr/>
          <p:nvPr/>
        </p:nvSpPr>
        <p:spPr>
          <a:xfrm>
            <a:off x="561975" y="3257550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the ChatGPT Plus usage allowance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9"/>
          <p:cNvSpPr/>
          <p:nvPr/>
        </p:nvSpPr>
        <p:spPr>
          <a:xfrm>
            <a:off x="533400" y="3905250"/>
            <a:ext cx="490537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Ultrafast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9"/>
          <p:cNvSpPr/>
          <p:nvPr/>
        </p:nvSpPr>
        <p:spPr>
          <a:xfrm>
            <a:off x="561975" y="4610100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access to the premium speed tier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9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new Pro tier for people who need more usage and speed.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9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Available now • $500/month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9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F26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0"/>
          <p:cNvSpPr/>
          <p:nvPr/>
        </p:nvSpPr>
        <p:spPr>
          <a:xfrm>
            <a:off x="533400" y="457200"/>
            <a:ext cx="1112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Marketplace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8" name="Google Shape;41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631156"/>
            <a:ext cx="6019800" cy="3386138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0"/>
          <p:cNvSpPr/>
          <p:nvPr/>
        </p:nvSpPr>
        <p:spPr>
          <a:xfrm>
            <a:off x="533400" y="1533525"/>
            <a:ext cx="46767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your commitment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across partner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0"/>
          <p:cNvSpPr/>
          <p:nvPr/>
        </p:nvSpPr>
        <p:spPr>
          <a:xfrm>
            <a:off x="552450" y="3248025"/>
            <a:ext cx="4543425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Eligible enterprises can apply part of an existing OpenAI commitment to approved partners.</a:t>
            </a:r>
            <a:endParaRPr b="0" i="0" sz="14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0"/>
          <p:cNvSpPr/>
          <p:nvPr/>
        </p:nvSpPr>
        <p:spPr>
          <a:xfrm>
            <a:off x="552450" y="5353050"/>
            <a:ext cx="10953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Choose tools for design, customer experience, legal work, and security.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0"/>
          <p:cNvSpPr/>
          <p:nvPr/>
        </p:nvSpPr>
        <p:spPr>
          <a:xfrm>
            <a:off x="552450" y="6229350"/>
            <a:ext cx="11029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Enterprise customers can express interest</a:t>
            </a:r>
            <a:endParaRPr b="0" i="0" sz="17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0"/>
          <p:cNvSpPr/>
          <p:nvPr/>
        </p:nvSpPr>
        <p:spPr>
          <a:xfrm>
            <a:off x="11487150" y="666750"/>
            <a:ext cx="152400" cy="152400"/>
          </a:xfrm>
          <a:prstGeom prst="ellipse">
            <a:avLst/>
          </a:prstGeom>
          <a:solidFill>
            <a:srgbClr val="F26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1"/>
          <p:cNvSpPr/>
          <p:nvPr/>
        </p:nvSpPr>
        <p:spPr>
          <a:xfrm>
            <a:off x="533400" y="533400"/>
            <a:ext cx="111442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0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will you build next?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p31"/>
          <p:cNvPicPr preferRelativeResize="0"/>
          <p:nvPr/>
        </p:nvPicPr>
        <p:blipFill rotWithShape="1">
          <a:blip r:embed="rId3">
            <a:alphaModFix/>
          </a:blip>
          <a:srcRect b="30001" l="0" r="0" t="0"/>
          <a:stretch/>
        </p:blipFill>
        <p:spPr>
          <a:xfrm>
            <a:off x="7524750" y="1933575"/>
            <a:ext cx="4190999" cy="2933701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1"/>
          <p:cNvSpPr/>
          <p:nvPr/>
        </p:nvSpPr>
        <p:spPr>
          <a:xfrm>
            <a:off x="552450" y="2286000"/>
            <a:ext cx="6477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All announcements</a:t>
            </a:r>
            <a:endParaRPr b="0" i="0" sz="18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1"/>
          <p:cNvSpPr/>
          <p:nvPr/>
        </p:nvSpPr>
        <p:spPr>
          <a:xfrm>
            <a:off x="552450" y="2667000"/>
            <a:ext cx="6762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sng" cap="none" strike="noStrike">
                <a:solidFill>
                  <a:srgbClr val="006A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openai.com/index/devday-2026-recap</a:t>
            </a:r>
            <a:endParaRPr b="0" i="0" sz="1400" u="none" cap="none" strike="noStrike">
              <a:solidFill>
                <a:srgbClr val="006A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1"/>
          <p:cNvSpPr/>
          <p:nvPr/>
        </p:nvSpPr>
        <p:spPr>
          <a:xfrm>
            <a:off x="552450" y="3571875"/>
            <a:ext cx="6477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Developer guides</a:t>
            </a:r>
            <a:endParaRPr b="0" i="0" sz="18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1"/>
          <p:cNvSpPr/>
          <p:nvPr/>
        </p:nvSpPr>
        <p:spPr>
          <a:xfrm>
            <a:off x="552450" y="3952875"/>
            <a:ext cx="6762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sng" cap="none" strike="noStrike">
                <a:solidFill>
                  <a:srgbClr val="006AFF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developers.openai.com</a:t>
            </a:r>
            <a:endParaRPr b="0" i="0" sz="1400" u="none" cap="none" strike="noStrike">
              <a:solidFill>
                <a:srgbClr val="006A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1"/>
          <p:cNvSpPr/>
          <p:nvPr/>
        </p:nvSpPr>
        <p:spPr>
          <a:xfrm>
            <a:off x="552450" y="4857750"/>
            <a:ext cx="6477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Product guides</a:t>
            </a:r>
            <a:endParaRPr b="0" i="0" sz="1800" u="none" cap="none" strike="noStrike">
              <a:solidFill>
                <a:srgbClr val="4B4B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1"/>
          <p:cNvSpPr/>
          <p:nvPr/>
        </p:nvSpPr>
        <p:spPr>
          <a:xfrm>
            <a:off x="552450" y="5238750"/>
            <a:ext cx="6762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sng" cap="none" strike="noStrike">
                <a:solidFill>
                  <a:srgbClr val="006AFF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learn.chatgpt.com</a:t>
            </a:r>
            <a:endParaRPr b="0" i="0" sz="1400" u="none" cap="none" strike="noStrike">
              <a:solidFill>
                <a:srgbClr val="006A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